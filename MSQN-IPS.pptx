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4630400" cy="8229600"/>
  <p:notesSz cx="8229600" cy="14630400"/>
  <p:embeddedFontLst>
    <p:embeddedFont>
      <p:font typeface="Raleway" pitchFamily="34" charset="0"/>
      <p:bold r:id="rId17"/>
    </p:embeddedFont>
    <p:embeddedFont>
      <p:font typeface="Raleway" pitchFamily="34" charset="-122"/>
      <p:bold r:id="rId18"/>
    </p:embeddedFont>
    <p:embeddedFont>
      <p:font typeface="Raleway" pitchFamily="34" charset="-120"/>
      <p:bold r:id="rId19"/>
    </p:embeddedFont>
    <p:embeddedFont>
      <p:font typeface="Roboto" panose="02000000000000000000" pitchFamily="34" charset="0"/>
      <p:regular r:id="rId20"/>
    </p:embeddedFont>
    <p:embeddedFont>
      <p:font typeface="Roboto" panose="02000000000000000000" pitchFamily="34" charset="-122"/>
      <p:regular r:id="rId21"/>
    </p:embeddedFont>
    <p:embeddedFont>
      <p:font typeface="Roboto" panose="02000000000000000000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9562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MSQN IPS - Enterprise Grade Intrusion Prevention &amp; Threat Monitoring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76061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Implementation of Real-time Web Application Firewall (WAF) &amp; Behavioral Analytics.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657017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Presented by: Nabeela Ashiq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574846"/>
            <a:ext cx="1556742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929878" y="2642830"/>
            <a:ext cx="1284565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3091815"/>
            <a:ext cx="7556421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Imperative of Robust Information Security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4565928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 today's digital landscape, robust information security is paramount. Proactive defense mechanisms are critical to safeguard sensitive data and maintain operational integrity against ever-evolving cyber threats.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4616" y="924520"/>
            <a:ext cx="2249924" cy="394335"/>
          </a:xfrm>
          <a:prstGeom prst="roundRect">
            <a:avLst>
              <a:gd name="adj" fmla="val 17886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860465" y="987385"/>
            <a:ext cx="1998226" cy="268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SECURITY ARCHITECTURE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4616" y="1402794"/>
            <a:ext cx="6684526" cy="524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Multi-Layered Defense: The Shield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734616" y="2242304"/>
            <a:ext cx="3732371" cy="2590443"/>
          </a:xfrm>
          <a:prstGeom prst="roundRect">
            <a:avLst>
              <a:gd name="adj" fmla="val 423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1756" y="2242304"/>
            <a:ext cx="91440" cy="2590443"/>
          </a:xfrm>
          <a:prstGeom prst="roundRect">
            <a:avLst>
              <a:gd name="adj" fmla="val 96419"/>
            </a:avLst>
          </a:prstGeom>
          <a:solidFill>
            <a:srgbClr val="1B1B27"/>
          </a:solidFill>
        </p:spPr>
      </p:sp>
      <p:sp>
        <p:nvSpPr>
          <p:cNvPr id="8" name="Text 5"/>
          <p:cNvSpPr/>
          <p:nvPr/>
        </p:nvSpPr>
        <p:spPr>
          <a:xfrm>
            <a:off x="1035963" y="2475071"/>
            <a:ext cx="3003352" cy="328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Browser-Level Validation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35963" y="2928938"/>
            <a:ext cx="3198257" cy="1343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Initial checks performed directly within the user's browser, preventing many common attacks before they reach the server.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676894" y="2242304"/>
            <a:ext cx="3732490" cy="2590443"/>
          </a:xfrm>
          <a:prstGeom prst="roundRect">
            <a:avLst>
              <a:gd name="adj" fmla="val 423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4034" y="2242304"/>
            <a:ext cx="91440" cy="2590443"/>
          </a:xfrm>
          <a:prstGeom prst="roundRect">
            <a:avLst>
              <a:gd name="adj" fmla="val 96419"/>
            </a:avLst>
          </a:prstGeom>
          <a:solidFill>
            <a:srgbClr val="1B1B27"/>
          </a:solidFill>
        </p:spPr>
      </p:sp>
      <p:sp>
        <p:nvSpPr>
          <p:cNvPr id="12" name="Text 9"/>
          <p:cNvSpPr/>
          <p:nvPr/>
        </p:nvSpPr>
        <p:spPr>
          <a:xfrm>
            <a:off x="4978241" y="2475071"/>
            <a:ext cx="3198376" cy="65603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Client-Side Scripting Filters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4978241" y="3256955"/>
            <a:ext cx="3198376" cy="1343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Filters to sanitize inputs and prevent malicious scripts from executing on the client side, reinforcing early threat detection.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34616" y="5042654"/>
            <a:ext cx="3732371" cy="2262426"/>
          </a:xfrm>
          <a:prstGeom prst="roundRect">
            <a:avLst>
              <a:gd name="adj" fmla="val 48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1756" y="5042654"/>
            <a:ext cx="91440" cy="2262426"/>
          </a:xfrm>
          <a:prstGeom prst="roundRect">
            <a:avLst>
              <a:gd name="adj" fmla="val 96419"/>
            </a:avLst>
          </a:prstGeom>
          <a:solidFill>
            <a:srgbClr val="1B1B27"/>
          </a:solidFill>
        </p:spPr>
      </p:sp>
      <p:sp>
        <p:nvSpPr>
          <p:cNvPr id="16" name="Text 13"/>
          <p:cNvSpPr/>
          <p:nvPr/>
        </p:nvSpPr>
        <p:spPr>
          <a:xfrm>
            <a:off x="1035963" y="5275421"/>
            <a:ext cx="2623899" cy="328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Server-Side Logging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1035963" y="5729288"/>
            <a:ext cx="3198257" cy="1343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Comprehensive logging on the server to record all security events, crucial for forensic analysis and incident response.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5088"/>
            <a:ext cx="2179201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929878" y="773073"/>
            <a:ext cx="1907024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REAL-TIME DETECTION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2058"/>
            <a:ext cx="6525578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Immediate Threat Identification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333268"/>
            <a:ext cx="760428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Our system employs sophisticated "Pattern Matching" logic to analyze every login attempt and input field in real-time. This ensures immediate detection of SQL Injection (SQLi) and Cross-Site Scripting (XSS) patterns.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26048"/>
            <a:ext cx="760428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Upon detection, malicious input is instantly blocked from execution, and a detailed log is securely saved to the backend for further investigation.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384346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8065" y="719852"/>
            <a:ext cx="2783800" cy="380286"/>
          </a:xfrm>
          <a:prstGeom prst="roundRect">
            <a:avLst>
              <a:gd name="adj" fmla="val 17877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829389" y="780455"/>
            <a:ext cx="2541151" cy="259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THREAT DETECTION CAPABILITIES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08065" y="1180981"/>
            <a:ext cx="4046696" cy="5057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Protections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708065" y="1990249"/>
            <a:ext cx="809268" cy="1812846"/>
          </a:xfrm>
          <a:prstGeom prst="roundRect">
            <a:avLst>
              <a:gd name="adj" fmla="val 36003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953" y="2707005"/>
            <a:ext cx="303490" cy="3793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1719620" y="2192536"/>
            <a:ext cx="3323511" cy="3161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 Injection (SQLi) Defense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719620" y="2629972"/>
            <a:ext cx="6716316" cy="970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Utilizes Regular Expression (Regex) patterns to identify and block suspicious keywords like 'select', 'insert', and '--' at the entry point, safeguarding database integrity.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8065" y="4005382"/>
            <a:ext cx="809268" cy="1489234"/>
          </a:xfrm>
          <a:prstGeom prst="roundRect">
            <a:avLst>
              <a:gd name="adj" fmla="val 36003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953" y="4560332"/>
            <a:ext cx="303490" cy="3793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719620" y="4207669"/>
            <a:ext cx="4277678" cy="3161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Cross-Site Scripting (XSS) Prevention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719620" y="4645104"/>
            <a:ext cx="6716316" cy="647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Filters out HTML tags and script-related characters (&lt;, &gt;, script) to prevent malicious scripts from executing and compromising user sessions.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08065" y="5696903"/>
            <a:ext cx="809268" cy="1812846"/>
          </a:xfrm>
          <a:prstGeom prst="roundRect">
            <a:avLst>
              <a:gd name="adj" fmla="val 36003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953" y="6413659"/>
            <a:ext cx="303490" cy="3793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50" dirty="0"/>
          </a:p>
        </p:txBody>
      </p:sp>
      <p:sp>
        <p:nvSpPr>
          <p:cNvPr id="16" name="Text 13"/>
          <p:cNvSpPr/>
          <p:nvPr/>
        </p:nvSpPr>
        <p:spPr>
          <a:xfrm>
            <a:off x="1719620" y="5899190"/>
            <a:ext cx="2669262" cy="3161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Brute-Force Protection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719620" y="6336625"/>
            <a:ext cx="6716316" cy="970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Implements a "Login Attempt Counter" that automatically locks an IP address after more than 5 failed login attempts, thwarting credential stuffing attacks.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79746"/>
            <a:ext cx="2601039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929878" y="1847731"/>
            <a:ext cx="2328863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BEHAVIORAL INTELLIGENCE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96716"/>
            <a:ext cx="7312938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IPS Monitor: Live Threat Dashboard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407926"/>
            <a:ext cx="760428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Our live threat dashboard provides visual analytics, illustrating the frequency and types of attacks (e.g., SQLi vs. Brute-force) through intuitive doughnut charts.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00707"/>
            <a:ext cx="760428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This immediate visualization allows security teams to grasp the current threat landscape at a glance, facilitating rapid response and strategic planning.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3459004"/>
            <a:ext cx="4885015" cy="24782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730264" y="596777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F1F2D"/>
          </a:solidFill>
        </p:spPr>
      </p:sp>
      <p:sp>
        <p:nvSpPr>
          <p:cNvPr id="9" name="Text 6"/>
          <p:cNvSpPr/>
          <p:nvPr/>
        </p:nvSpPr>
        <p:spPr>
          <a:xfrm>
            <a:off x="10018038" y="5967770"/>
            <a:ext cx="467797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SQLi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051977" y="596777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35378"/>
          </a:solidFill>
        </p:spPr>
      </p:sp>
      <p:sp>
        <p:nvSpPr>
          <p:cNvPr id="11" name="Text 8"/>
          <p:cNvSpPr/>
          <p:nvPr/>
        </p:nvSpPr>
        <p:spPr>
          <a:xfrm>
            <a:off x="11339751" y="5967770"/>
            <a:ext cx="41136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XSS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2317373" y="5967770"/>
            <a:ext cx="226814" cy="226814"/>
          </a:xfrm>
          <a:prstGeom prst="roundRect">
            <a:avLst>
              <a:gd name="adj" fmla="val 8063"/>
            </a:avLst>
          </a:prstGeom>
          <a:solidFill>
            <a:srgbClr val="9494B5"/>
          </a:solidFill>
        </p:spPr>
      </p:sp>
      <p:sp>
        <p:nvSpPr>
          <p:cNvPr id="13" name="Text 10"/>
          <p:cNvSpPr/>
          <p:nvPr/>
        </p:nvSpPr>
        <p:spPr>
          <a:xfrm>
            <a:off x="12605147" y="5967770"/>
            <a:ext cx="1165979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Brute-Force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6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9383" y="612338"/>
            <a:ext cx="2554724" cy="418505"/>
          </a:xfrm>
          <a:prstGeom prst="roundRect">
            <a:avLst>
              <a:gd name="adj" fmla="val 17880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912971" y="679133"/>
            <a:ext cx="2287548" cy="2849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BEHAVIORAL INTELLIGENCE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9383" y="1119902"/>
            <a:ext cx="6118860" cy="5567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Anomaly Detection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779383" y="2344579"/>
            <a:ext cx="7585234" cy="2360057"/>
          </a:xfrm>
          <a:prstGeom prst="roundRect">
            <a:avLst>
              <a:gd name="adj" fmla="val 6199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779383" y="2314099"/>
            <a:ext cx="7585234" cy="121920"/>
          </a:xfrm>
          <a:prstGeom prst="roundRect">
            <a:avLst>
              <a:gd name="adj" fmla="val 76719"/>
            </a:avLst>
          </a:prstGeom>
          <a:solidFill>
            <a:srgbClr val="1B1B27"/>
          </a:solidFill>
        </p:spPr>
      </p:sp>
      <p:sp>
        <p:nvSpPr>
          <p:cNvPr id="8" name="Shape 5"/>
          <p:cNvSpPr/>
          <p:nvPr/>
        </p:nvSpPr>
        <p:spPr>
          <a:xfrm>
            <a:off x="4237970" y="2010608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1B1B27"/>
          </a:solidFill>
        </p:spPr>
      </p:sp>
      <p:sp>
        <p:nvSpPr>
          <p:cNvPr id="9" name="Text 6"/>
          <p:cNvSpPr/>
          <p:nvPr/>
        </p:nvSpPr>
        <p:spPr>
          <a:xfrm>
            <a:off x="4438352" y="2177653"/>
            <a:ext cx="267176" cy="333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32510" y="2901315"/>
            <a:ext cx="2783681" cy="3479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DDoS/Rate Limiting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032510" y="3382804"/>
            <a:ext cx="7078980" cy="1068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Client-side IPS logic detects abnormal refresh frequencies (Anti-Refresh) and redirects suspicious users to a "403 Forbidden" page, mitigating DDoS attacks.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79383" y="5261253"/>
            <a:ext cx="7585234" cy="2360057"/>
          </a:xfrm>
          <a:prstGeom prst="roundRect">
            <a:avLst>
              <a:gd name="adj" fmla="val 6199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779383" y="5230773"/>
            <a:ext cx="7585234" cy="121920"/>
          </a:xfrm>
          <a:prstGeom prst="roundRect">
            <a:avLst>
              <a:gd name="adj" fmla="val 76719"/>
            </a:avLst>
          </a:prstGeom>
          <a:solidFill>
            <a:srgbClr val="1B1B27"/>
          </a:solidFill>
        </p:spPr>
      </p:sp>
      <p:sp>
        <p:nvSpPr>
          <p:cNvPr id="14" name="Shape 11"/>
          <p:cNvSpPr/>
          <p:nvPr/>
        </p:nvSpPr>
        <p:spPr>
          <a:xfrm>
            <a:off x="4237970" y="4927283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1B1B27"/>
          </a:solidFill>
        </p:spPr>
      </p:sp>
      <p:sp>
        <p:nvSpPr>
          <p:cNvPr id="15" name="Text 12"/>
          <p:cNvSpPr/>
          <p:nvPr/>
        </p:nvSpPr>
        <p:spPr>
          <a:xfrm>
            <a:off x="4438352" y="5094327"/>
            <a:ext cx="267176" cy="333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032510" y="5817989"/>
            <a:ext cx="2783681" cy="3479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Audit Logs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1032510" y="6299478"/>
            <a:ext cx="7078980" cy="1068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persistent file (security-audit.log) meticulously records each attack with timestamp and message, providing critical data for forensic analysis and post-incident review.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0918" y="714256"/>
            <a:ext cx="1553051" cy="365641"/>
          </a:xfrm>
          <a:prstGeom prst="roundRect">
            <a:avLst>
              <a:gd name="adj" fmla="val 17879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797600" y="772597"/>
            <a:ext cx="1319689" cy="248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ADMIN CONTROLS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0918" y="1157645"/>
            <a:ext cx="7178993" cy="486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 Response and System Lockdown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680918" y="1935837"/>
            <a:ext cx="3793807" cy="3159323"/>
          </a:xfrm>
          <a:prstGeom prst="roundRect">
            <a:avLst>
              <a:gd name="adj" fmla="val 258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3087" y="2138005"/>
            <a:ext cx="583644" cy="583644"/>
          </a:xfrm>
          <a:prstGeom prst="roundRect">
            <a:avLst>
              <a:gd name="adj" fmla="val 15665518"/>
            </a:avLst>
          </a:prstGeom>
          <a:solidFill>
            <a:srgbClr val="1B1B27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583" y="2298383"/>
            <a:ext cx="262652" cy="2626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3087" y="2916198"/>
            <a:ext cx="2431971" cy="3039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 Response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83087" y="3336846"/>
            <a:ext cx="3389471" cy="15561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Administrators have "One-Click Control" directly from the dashboard to instantly block any identified malicious source IP, enabling swift containment of threats.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669274" y="1935837"/>
            <a:ext cx="3793807" cy="3159323"/>
          </a:xfrm>
          <a:prstGeom prst="roundRect">
            <a:avLst>
              <a:gd name="adj" fmla="val 258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71442" y="2138005"/>
            <a:ext cx="583644" cy="583644"/>
          </a:xfrm>
          <a:prstGeom prst="roundRect">
            <a:avLst>
              <a:gd name="adj" fmla="val 15665518"/>
            </a:avLst>
          </a:prstGeom>
          <a:solidFill>
            <a:srgbClr val="1B1B27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1938" y="2298383"/>
            <a:ext cx="262652" cy="2626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71442" y="2916198"/>
            <a:ext cx="2431971" cy="3039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Traffic Transparency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871442" y="3336846"/>
            <a:ext cx="3389471" cy="12449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Live data fetching from the server provides a real-time overview of the network's current security state, ensuring informed decision-making.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80918" y="5289709"/>
            <a:ext cx="7782163" cy="2225635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83087" y="5491877"/>
            <a:ext cx="583644" cy="583644"/>
          </a:xfrm>
          <a:prstGeom prst="roundRect">
            <a:avLst>
              <a:gd name="adj" fmla="val 15665518"/>
            </a:avLst>
          </a:prstGeom>
          <a:solidFill>
            <a:srgbClr val="1B1B27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583" y="5652254"/>
            <a:ext cx="262652" cy="2626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3087" y="6270069"/>
            <a:ext cx="2431971" cy="3039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Lockdown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83087" y="6690717"/>
            <a:ext cx="7377827" cy="6224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Measures like F12 (Inspect Element) and Right-click protection are implemented to prevent unauthorized access and "reverse engineering" of sensitive client-side code.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6390" y="507921"/>
            <a:ext cx="1458278" cy="347067"/>
          </a:xfrm>
          <a:prstGeom prst="roundRect">
            <a:avLst>
              <a:gd name="adj" fmla="val 17883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757118" y="563285"/>
            <a:ext cx="1236821" cy="236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SECURITY IMPACT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6390" y="928807"/>
            <a:ext cx="5389721" cy="461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Proactive and Scalable Security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390" y="1875353"/>
            <a:ext cx="6443543" cy="64435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7262" y="1881068"/>
            <a:ext cx="277058" cy="2770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48280" y="1875353"/>
            <a:ext cx="2308860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Proactive Defense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148280" y="2348508"/>
            <a:ext cx="5843349" cy="8861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This project shifts focus from reactive security measures to a proactive defense strategy, anticipating and neutralizing threats before they can inflict damage.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7262" y="3609737"/>
            <a:ext cx="277058" cy="2770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8280" y="3604022"/>
            <a:ext cx="2308860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Framework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148280" y="4077176"/>
            <a:ext cx="5843349" cy="8861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designed security framework is highly scalable and can be seamlessly integrated as a robust security layer within any web application, regardless of its size or complexity.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-23495" y="-12700"/>
            <a:ext cx="14664690" cy="827913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3752</Words>
  <Application>WPS Presentation</Application>
  <PresentationFormat>On-screen Show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Raleway</vt:lpstr>
      <vt:lpstr>Raleway</vt:lpstr>
      <vt:lpstr>Raleway</vt:lpstr>
      <vt:lpstr>Roboto</vt:lpstr>
      <vt:lpstr>Roboto</vt:lpstr>
      <vt:lpstr>Roboto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PEARL</cp:lastModifiedBy>
  <cp:revision>5</cp:revision>
  <dcterms:created xsi:type="dcterms:W3CDTF">2025-12-31T18:44:00Z</dcterms:created>
  <dcterms:modified xsi:type="dcterms:W3CDTF">2026-08-05T11:55:57Z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BA850496A1AC4B8DB49BEA246FCD4F1F_12</vt:lpwstr>
  </property>
  <property fmtid="{D5CDD505-2E9C-101B-9397-08002B2CF9AE}" pid="3" name="KSOProductBuildVer">
    <vt:lpwstr>1033-12.1.0.26880</vt:lpwstr>
  </property>
</Properties>
</file>